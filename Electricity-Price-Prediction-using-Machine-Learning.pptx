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8.svg" ContentType="image/svg+xml"/>
  <Override PartName="/ppt/media/image19.svg" ContentType="image/svg+xml"/>
  <Override PartName="/ppt/media/image20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4" r:id="rId14"/>
    <p:sldId id="265" r:id="rId15"/>
    <p:sldId id="268" r:id="rId16"/>
  </p:sldIdLst>
  <p:sldSz cx="14630400" cy="8229600"/>
  <p:notesSz cx="8229600" cy="14630400"/>
  <p:embeddedFontLst>
    <p:embeddedFont>
      <p:font typeface="Sans Serif Collection" panose="020B0502040504020204" charset="0"/>
      <p:regular r:id="rId20"/>
    </p:embeddedFont>
    <p:embeddedFont>
      <p:font typeface="Montserrat" pitchFamily="34" charset="-122"/>
      <p:bold r:id="rId21"/>
    </p:embeddedFont>
    <p:embeddedFont>
      <p:font typeface="Consolas" panose="020B060902020403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image" Target="../media/image17.png"/><Relationship Id="rId5" Type="http://schemas.openxmlformats.org/officeDocument/2006/relationships/tags" Target="../tags/tag50.xml"/><Relationship Id="rId4" Type="http://schemas.openxmlformats.org/officeDocument/2006/relationships/image" Target="../media/image16.png"/><Relationship Id="rId3" Type="http://schemas.openxmlformats.org/officeDocument/2006/relationships/tags" Target="../tags/tag49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8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0.svg"/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30912"/>
            <a:ext cx="7627382" cy="145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🔌</a:t>
            </a:r>
            <a:r>
              <a:rPr lang="en-US" sz="44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Electricity Price Prediction using Machine Learning</a:t>
            </a:r>
            <a:endParaRPr lang="en-US" sz="44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9" y="4311729"/>
            <a:ext cx="7627382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This project offers a comprehensive machine learning solution for forecasting electricity prices, leveraging historical temperature and demand data. It's an indispensable tool for energy providers and consumers navigating the volatile energy market.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44166"/>
            <a:ext cx="9603700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📌</a:t>
            </a:r>
            <a:r>
              <a:rPr lang="en-US" sz="35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 Project Overview: Predicting Energy Futures</a:t>
            </a:r>
            <a:endParaRPr lang="en-US" sz="35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064544"/>
            <a:ext cx="7656790" cy="173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Our solution employs time-series analysis and advanced machine learning techniques to predict electricity prices (P(t+1)) based on an array of historical temperature and demand data. The core of our prediction model is the robust XGBoost Regressor, complemented by thorough data analysis and insightful visualisations.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992999"/>
            <a:ext cx="7656790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This predictive capability is crucial for strategic decision-making in energy trading, consumption optimisation, and infrastructure planning.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1357" y="2113359"/>
            <a:ext cx="4928235" cy="49282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789" y="663575"/>
            <a:ext cx="9173647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📈</a:t>
            </a:r>
            <a:r>
              <a:rPr lang="en-US" sz="35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 Model Performance: Quantifying Accuracy</a:t>
            </a:r>
            <a:endParaRPr lang="en-US" sz="35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1782485"/>
            <a:ext cx="131137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The XGBoost Regressor model has demonstrated exceptional performance in predicting electricity prices, with the following key metrics: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758190" y="2827655"/>
            <a:ext cx="3724910" cy="648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altLang="en-US" sz="44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9.09</a:t>
            </a:r>
            <a:endParaRPr lang="en-US" altLang="en-US" sz="44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428115" y="3813175"/>
            <a:ext cx="2533650" cy="322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Training RMSE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58190" y="4299585"/>
            <a:ext cx="3724910" cy="629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Average magnitude of prediction errors on training data.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219700" y="2827655"/>
            <a:ext cx="3724910" cy="648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altLang="en-US" sz="44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0.44</a:t>
            </a:r>
            <a:endParaRPr lang="en-US" altLang="en-US" sz="44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889625" y="3813175"/>
            <a:ext cx="2533650" cy="4502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Training R² Score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219700" y="4299585"/>
            <a:ext cx="3724910" cy="629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Proportion of variance explained in training data.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681210" y="2827655"/>
            <a:ext cx="3724910" cy="648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altLang="en-US" sz="44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19.89</a:t>
            </a:r>
            <a:endParaRPr lang="en-US" altLang="en-US" sz="44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0351135" y="3813175"/>
            <a:ext cx="2533650" cy="322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Test RMSE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681210" y="4299585"/>
            <a:ext cx="3724910" cy="629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Average magnitude of prediction errors on unseen data.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5140" y="5928995"/>
            <a:ext cx="12655550" cy="742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These figures underscore the model's ability to generalise and make accurate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 predictions on new, unseen data.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8"/>
          <p:cNvSpPr/>
          <p:nvPr>
            <p:custDataLst>
              <p:tags r:id="rId10"/>
            </p:custDataLst>
          </p:nvPr>
        </p:nvSpPr>
        <p:spPr>
          <a:xfrm>
            <a:off x="9808210" y="5249545"/>
            <a:ext cx="3724910" cy="648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altLang="en-US" sz="44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0.14</a:t>
            </a:r>
            <a:endParaRPr lang="en-US" altLang="en-US" sz="44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5" name="Text 9"/>
          <p:cNvSpPr/>
          <p:nvPr>
            <p:custDataLst>
              <p:tags r:id="rId11"/>
            </p:custDataLst>
          </p:nvPr>
        </p:nvSpPr>
        <p:spPr>
          <a:xfrm>
            <a:off x="10478135" y="6061710"/>
            <a:ext cx="2533650" cy="322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Test </a:t>
            </a: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  <a:sym typeface="+mn-ea"/>
              </a:rPr>
              <a:t>R² Score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6" name="Text 10"/>
          <p:cNvSpPr/>
          <p:nvPr>
            <p:custDataLst>
              <p:tags r:id="rId12"/>
            </p:custDataLst>
          </p:nvPr>
        </p:nvSpPr>
        <p:spPr>
          <a:xfrm>
            <a:off x="9835515" y="6548120"/>
            <a:ext cx="3724910" cy="629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alt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Performance on new data, indicating room for generalization improvements</a:t>
            </a:r>
            <a:endParaRPr lang="en-US" alt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614" y="731639"/>
            <a:ext cx="6315551" cy="5639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🌟 </a:t>
            </a:r>
            <a:r>
              <a:rPr lang="en-US" sz="34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Key Findings &amp; Visual Insights</a:t>
            </a:r>
            <a:endParaRPr lang="en-US" sz="34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9614" y="1706761"/>
            <a:ext cx="13191173" cy="2203609"/>
          </a:xfrm>
          <a:prstGeom prst="roundRect">
            <a:avLst>
              <a:gd name="adj" fmla="val 1399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234" y="1714381"/>
            <a:ext cx="4391978" cy="2188369"/>
          </a:xfrm>
          <a:prstGeom prst="roundRect">
            <a:avLst>
              <a:gd name="adj" fmla="val 14094"/>
            </a:avLst>
          </a:prstGeom>
          <a:solidFill>
            <a:srgbClr val="D4E9F7"/>
          </a:solidFill>
        </p:spPr>
      </p:sp>
      <p:sp>
        <p:nvSpPr>
          <p:cNvPr id="5" name="Text 3"/>
          <p:cNvSpPr/>
          <p:nvPr/>
        </p:nvSpPr>
        <p:spPr>
          <a:xfrm>
            <a:off x="932736" y="1919883"/>
            <a:ext cx="2705457" cy="338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Strong Performance</a:t>
            </a:r>
            <a:endParaRPr lang="en-US" sz="21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36" y="2381369"/>
            <a:ext cx="3672483" cy="1315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The XGBoost Regressor model exhibits robust capabilities in predicting electricity prices with high accuracy.</a:t>
            </a:r>
            <a:endParaRPr 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19211" y="1714381"/>
            <a:ext cx="4391978" cy="2188369"/>
          </a:xfrm>
          <a:prstGeom prst="rect">
            <a:avLst/>
          </a:prstGeom>
          <a:solidFill>
            <a:srgbClr val="D4E9F7"/>
          </a:solidFill>
        </p:spPr>
      </p:sp>
      <p:sp>
        <p:nvSpPr>
          <p:cNvPr id="8" name="Shape 6"/>
          <p:cNvSpPr/>
          <p:nvPr/>
        </p:nvSpPr>
        <p:spPr>
          <a:xfrm>
            <a:off x="5119211" y="1714381"/>
            <a:ext cx="22860" cy="2188369"/>
          </a:xfrm>
          <a:prstGeom prst="roundRect">
            <a:avLst>
              <a:gd name="adj" fmla="val 1349212"/>
            </a:avLst>
          </a:prstGeom>
          <a:solidFill>
            <a:srgbClr val="BACFDD"/>
          </a:solidFill>
        </p:spPr>
      </p:sp>
      <p:sp>
        <p:nvSpPr>
          <p:cNvPr id="9" name="Text 7"/>
          <p:cNvSpPr/>
          <p:nvPr/>
        </p:nvSpPr>
        <p:spPr>
          <a:xfrm>
            <a:off x="5633204" y="1919883"/>
            <a:ext cx="2705457" cy="338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Enhanced Accuracy</a:t>
            </a:r>
            <a:endParaRPr lang="en-US" sz="21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33204" y="2381369"/>
            <a:ext cx="3363992" cy="1315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Feature engineering, including statistical analysis and trend identification, significantly boosted prediction accuracy.</a:t>
            </a:r>
            <a:endParaRPr 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62274" y="2551569"/>
            <a:ext cx="513993" cy="513993"/>
          </a:xfrm>
          <a:prstGeom prst="roundRect">
            <a:avLst>
              <a:gd name="adj" fmla="val 6000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0743" y="2680037"/>
            <a:ext cx="256937" cy="25693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511189" y="1714381"/>
            <a:ext cx="4391978" cy="2188369"/>
          </a:xfrm>
          <a:prstGeom prst="rect">
            <a:avLst/>
          </a:prstGeom>
          <a:solidFill>
            <a:srgbClr val="D4E9F7"/>
          </a:solidFill>
        </p:spPr>
      </p:sp>
      <p:sp>
        <p:nvSpPr>
          <p:cNvPr id="14" name="Shape 11"/>
          <p:cNvSpPr/>
          <p:nvPr/>
        </p:nvSpPr>
        <p:spPr>
          <a:xfrm>
            <a:off x="9511189" y="1714381"/>
            <a:ext cx="22860" cy="2188369"/>
          </a:xfrm>
          <a:prstGeom prst="roundRect">
            <a:avLst>
              <a:gd name="adj" fmla="val 1349212"/>
            </a:avLst>
          </a:prstGeom>
          <a:solidFill>
            <a:srgbClr val="BACFDD"/>
          </a:solidFill>
        </p:spPr>
      </p:sp>
      <p:sp>
        <p:nvSpPr>
          <p:cNvPr id="15" name="Text 12"/>
          <p:cNvSpPr/>
          <p:nvPr/>
        </p:nvSpPr>
        <p:spPr>
          <a:xfrm>
            <a:off x="10025182" y="1919883"/>
            <a:ext cx="2705457" cy="338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Effective Handling</a:t>
            </a:r>
            <a:endParaRPr lang="en-US" sz="21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025182" y="2381369"/>
            <a:ext cx="3672483" cy="1315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The model adeptly captures the intricate relationships between temperature, demand, and electricity price fluctuations.</a:t>
            </a:r>
            <a:endParaRPr 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254252" y="2551569"/>
            <a:ext cx="513993" cy="513993"/>
          </a:xfrm>
          <a:prstGeom prst="roundRect">
            <a:avLst>
              <a:gd name="adj" fmla="val 6000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2720" y="2680037"/>
            <a:ext cx="256937" cy="2569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9614" y="4141589"/>
            <a:ext cx="13191173" cy="328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Visualisation of Actual vs. Predicted Prices and Feature Importance provides deeper insights into model behaviour.</a:t>
            </a:r>
            <a:endParaRPr 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501" y="4834890"/>
            <a:ext cx="3608427" cy="2467332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353" y="4834890"/>
            <a:ext cx="3608427" cy="2467332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034" y="511493"/>
            <a:ext cx="5141000" cy="5123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🛠  </a:t>
            </a:r>
            <a:r>
              <a:rPr lang="en-US" sz="30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Implementation Highlights</a:t>
            </a:r>
            <a:endParaRPr lang="en-US" sz="30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51034" y="1395770"/>
            <a:ext cx="744022" cy="1116092"/>
          </a:xfrm>
          <a:prstGeom prst="roundRect">
            <a:avLst>
              <a:gd name="adj" fmla="val 36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915313" y="1827014"/>
            <a:ext cx="278963" cy="348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1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581031" y="1581745"/>
            <a:ext cx="297727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Data Loading &amp; Preparation</a:t>
            </a:r>
            <a:endParaRPr lang="en-US" sz="19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581031" y="1999298"/>
            <a:ext cx="12398335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Datasets are loaded from CSV, converted to NumPy arrays, and missing values are meticulously handled.</a:t>
            </a:r>
            <a:endParaRPr 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651034" y="2697837"/>
            <a:ext cx="744022" cy="1116092"/>
          </a:xfrm>
          <a:prstGeom prst="roundRect">
            <a:avLst>
              <a:gd name="adj" fmla="val 36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15313" y="3176707"/>
            <a:ext cx="278963" cy="348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2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581031" y="2883813"/>
            <a:ext cx="2447568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Outlier Removal</a:t>
            </a:r>
            <a:endParaRPr lang="en-US" sz="19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581031" y="3301365"/>
            <a:ext cx="12398335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4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 statistical method (Mean + 3 Standard Deviations) is applied to specific price thresholds to remove extreme anomalies (15 outliers removed).</a:t>
            </a:r>
            <a:endParaRPr lang="en-US" alt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651034" y="3999905"/>
            <a:ext cx="744022" cy="1116092"/>
          </a:xfrm>
          <a:prstGeom prst="roundRect">
            <a:avLst>
              <a:gd name="adj" fmla="val 36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899438" y="4431149"/>
            <a:ext cx="278963" cy="348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3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1581031" y="4185880"/>
            <a:ext cx="2447568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Feature Engineering</a:t>
            </a:r>
            <a:endParaRPr lang="en-US" sz="19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1581031" y="4603433"/>
            <a:ext cx="12398335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Relevant features are selected based on correlation analysis, preparing optimal input-output pairs for the model.</a:t>
            </a:r>
            <a:endParaRPr 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651034" y="5301972"/>
            <a:ext cx="744022" cy="1116092"/>
          </a:xfrm>
          <a:prstGeom prst="roundRect">
            <a:avLst>
              <a:gd name="adj" fmla="val 36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899438" y="5749092"/>
            <a:ext cx="278963" cy="348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4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581031" y="5487948"/>
            <a:ext cx="2447568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Model Training</a:t>
            </a:r>
            <a:endParaRPr lang="en-US" sz="19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1581031" y="5905500"/>
            <a:ext cx="12398335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4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An XGBoost Regressor (Extreme Gradient Boosting) model is initialized and rigorously trained on the scaled features.</a:t>
            </a:r>
            <a:endParaRPr lang="en-US" alt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  <a:p>
            <a:pPr marL="0" indent="0" algn="l">
              <a:lnSpc>
                <a:spcPts val="2300"/>
              </a:lnSpc>
              <a:buNone/>
            </a:pPr>
            <a:endParaRPr lang="en-US" alt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651034" y="6604040"/>
            <a:ext cx="744022" cy="1116092"/>
          </a:xfrm>
          <a:prstGeom prst="roundRect">
            <a:avLst>
              <a:gd name="adj" fmla="val 36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915313" y="7051159"/>
            <a:ext cx="278963" cy="348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5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1581031" y="6790015"/>
            <a:ext cx="25360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Prediction &amp; Evaluation</a:t>
            </a:r>
            <a:endParaRPr lang="en-US" sz="19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1581031" y="7207568"/>
            <a:ext cx="12398335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Predictions are generated on test data, and performance metrics (MSE, R²) are computed and visualised.</a:t>
            </a:r>
            <a:endParaRPr lang="en-US" sz="14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948" y="1057315"/>
            <a:ext cx="6227445" cy="3759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🧪</a:t>
            </a:r>
            <a:r>
              <a:rPr lang="en-US" sz="22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 Comprehensive Data Analysis &amp; Preprocessing</a:t>
            </a:r>
            <a:endParaRPr lang="en-US" sz="22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7838" y="1930638"/>
            <a:ext cx="2118836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Data Analysis</a:t>
            </a:r>
            <a:endParaRPr lang="en-US" sz="20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7838" y="2329736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Exploratory data analysis (EDA) using pandas.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7838" y="2591316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Statistical analysis and detailed data profiling.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7838" y="2852896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Rigorous outlier detection and removal (15 outliers identified and addressed).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7838" y="3114477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Extensive data visualisation with Matplotlib and Seaborn.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176" y="1551821"/>
            <a:ext cx="6681907" cy="66819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8036" y="4062254"/>
            <a:ext cx="2118836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Data Preprocessing</a:t>
            </a:r>
            <a:endParaRPr lang="en-US" sz="20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9146" y="4487386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Advanced feature engineering for time-series data.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8036" y="4766747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Data normalisation using StandardScaler for consistent scaling.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8036" y="5046107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Creation of critical statistical features (mean, standard deviation).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8036" y="5325467"/>
            <a:ext cx="6681907" cy="214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In-depth trend analysis features to capture dynamic patterns.</a:t>
            </a:r>
            <a:endParaRPr lang="en-US" sz="14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741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3404116"/>
            <a:ext cx="8783955" cy="579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🔮</a:t>
            </a:r>
            <a:r>
              <a:rPr lang="en-US" sz="35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 Future Enhancements &amp; Model Expansion</a:t>
            </a:r>
            <a:endParaRPr lang="en-US" sz="35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9735" y="4300299"/>
            <a:ext cx="13150929" cy="338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To further refine and extend this project, consider the following avenues for improvement:</a:t>
            </a:r>
            <a:endParaRPr lang="en-US" sz="16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744220" y="4876165"/>
            <a:ext cx="4239895" cy="2701290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766941" y="4899050"/>
            <a:ext cx="4194169" cy="633706"/>
          </a:xfrm>
          <a:prstGeom prst="roundRect">
            <a:avLst>
              <a:gd name="adj" fmla="val 45675"/>
            </a:avLst>
          </a:prstGeom>
          <a:solidFill>
            <a:srgbClr val="D4E9F7"/>
          </a:solidFill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2705540" y="5093481"/>
            <a:ext cx="316853" cy="395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1</a:t>
            </a:r>
            <a:endParaRPr lang="en-US" sz="24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978137" y="5693152"/>
            <a:ext cx="2779336" cy="347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Alternative Models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977265" y="6089650"/>
            <a:ext cx="3771900" cy="1038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altLang="en-US" sz="16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Explore Deep Learning architectures like LSTM (Long Short-Term Memory) or GRU networks for better sequential pattern recognition.</a:t>
            </a:r>
            <a:endParaRPr lang="en-US" alt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  <a:p>
            <a:pPr marL="0" indent="0" algn="l">
              <a:lnSpc>
                <a:spcPts val="2650"/>
              </a:lnSpc>
              <a:buNone/>
            </a:pPr>
            <a:endParaRPr lang="en-US" altLang="en-US" sz="16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5194935" y="4876165"/>
            <a:ext cx="4239895" cy="2670175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217996" y="4899050"/>
            <a:ext cx="4194288" cy="633706"/>
          </a:xfrm>
          <a:prstGeom prst="roundRect">
            <a:avLst>
              <a:gd name="adj" fmla="val 45675"/>
            </a:avLst>
          </a:prstGeom>
          <a:solidFill>
            <a:srgbClr val="D4E9F7"/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7139940" y="5081905"/>
            <a:ext cx="249555" cy="296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2</a:t>
            </a:r>
            <a:endParaRPr lang="en-US" sz="24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5429192" y="5696327"/>
            <a:ext cx="2912479" cy="347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Cross-Validation</a:t>
            </a:r>
            <a:endParaRPr lang="en-US" alt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5429192" y="6081576"/>
            <a:ext cx="3771897" cy="10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altLang="en-US" sz="16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Implement k-fold cross-validation to </a:t>
            </a:r>
            <a:endParaRPr lang="en-US" altLang="en-US" sz="16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altLang="en-US" sz="16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evaluate model performance across multiple data splits for more robust and reliable accuracy metrics.</a:t>
            </a:r>
            <a:endParaRPr lang="en-US" altLang="en-US" sz="16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9646285" y="4876165"/>
            <a:ext cx="4239895" cy="2653665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9669171" y="4899050"/>
            <a:ext cx="4194169" cy="633706"/>
          </a:xfrm>
          <a:prstGeom prst="roundRect">
            <a:avLst>
              <a:gd name="adj" fmla="val 45675"/>
            </a:avLst>
          </a:prstGeom>
          <a:solidFill>
            <a:srgbClr val="D4E9F7"/>
          </a:solidFill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11607769" y="5093481"/>
            <a:ext cx="316853" cy="395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3</a:t>
            </a:r>
            <a:endParaRPr lang="en-US" sz="24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9880365" y="5696327"/>
            <a:ext cx="3084172" cy="347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External Data Integration</a:t>
            </a:r>
            <a:endParaRPr lang="en-US" sz="21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9880365" y="6106976"/>
            <a:ext cx="3771778" cy="10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Incorporate additional data sources such as detailed weather forecasts and holiday indicators.</a:t>
            </a:r>
            <a:endParaRPr lang="en-US" sz="16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00313"/>
            <a:ext cx="7627382" cy="1170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💡 </a:t>
            </a:r>
            <a:r>
              <a:rPr lang="en-US" sz="35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Advanced Feature Engineering Ideas</a:t>
            </a:r>
            <a:endParaRPr lang="en-US" sz="35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590" y="2593340"/>
            <a:ext cx="272415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Temporal Features</a:t>
            </a:r>
            <a:endParaRPr lang="en-US" sz="22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44709" y="3241477"/>
            <a:ext cx="219051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Rolling averages of temperature and demand.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44709" y="4357330"/>
            <a:ext cx="2190512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Lagged features (t-1, t-2, etc.) for temporal dependencies.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44709" y="5819894"/>
            <a:ext cx="2190512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Moving statistics (mean, standard deviation, min, max).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968740" y="2593340"/>
            <a:ext cx="2726055" cy="396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Seasonal Indicators</a:t>
            </a:r>
            <a:endParaRPr lang="en-US" sz="22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71478" y="3241477"/>
            <a:ext cx="2189678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Hour of day, day of week, month of year.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71478" y="4357330"/>
            <a:ext cx="2189678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Specific holiday indicators for seasonal spikes.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694795" y="2593340"/>
            <a:ext cx="2733040" cy="357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Interaction Terms</a:t>
            </a:r>
            <a:endParaRPr lang="en-US" sz="22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697414" y="3241477"/>
            <a:ext cx="2189678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Temperature × Demand cross-features.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697414" y="4357330"/>
            <a:ext cx="2189678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Polynomial features to capture non-linearities.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697414" y="5819894"/>
            <a:ext cx="2189678" cy="173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Custom domain-specific combinations for unique insights.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567809" y="1009412"/>
            <a:ext cx="8008382" cy="10672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Delivering Value: Predictive Analytics in Electricity Markets :</a:t>
            </a:r>
            <a:endParaRPr lang="en-US" sz="335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7809" y="2141577"/>
            <a:ext cx="6709291" cy="426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04C8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Realising Value: A Model for All Stakeholders</a:t>
            </a:r>
            <a:endParaRPr lang="en-US" sz="2650" b="1" dirty="0">
              <a:solidFill>
                <a:srgbClr val="204C8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7809" y="2811780"/>
            <a:ext cx="8008382" cy="519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This project transcends technical modelling; it delivers tangible value across the electricity market, empowering diverse stakeholders with actionable insights.</a:t>
            </a:r>
            <a:endParaRPr lang="en-US" sz="12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67809" y="3513296"/>
            <a:ext cx="3923109" cy="1772364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49" y="3513296"/>
            <a:ext cx="91440" cy="1772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412" y="3698319"/>
            <a:ext cx="2134672" cy="2668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For Energy Providers</a:t>
            </a:r>
            <a:endParaRPr lang="en-US" sz="16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21412" y="4062413"/>
            <a:ext cx="3484483" cy="1038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Optimise pricing strategies, inventory management, and production planning. Gain a competitive edge through informed decision-making.</a:t>
            </a:r>
            <a:endParaRPr lang="en-US" sz="12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53082" y="3513296"/>
            <a:ext cx="3923109" cy="1772364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0222" y="3513296"/>
            <a:ext cx="91440" cy="17723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06685" y="3698319"/>
            <a:ext cx="2134672" cy="2668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For Consumers</a:t>
            </a:r>
            <a:endParaRPr lang="en-US" sz="16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06685" y="4062413"/>
            <a:ext cx="3484483" cy="1038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Especially industrial users, can optimise energy consumption and significantly reduce costs by anticipating peak periods and high prices.</a:t>
            </a:r>
            <a:endParaRPr lang="en-US" sz="12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67809" y="5447824"/>
            <a:ext cx="3923109" cy="1772364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49" y="5447824"/>
            <a:ext cx="91440" cy="17723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412" y="5632847"/>
            <a:ext cx="2607588" cy="2668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For Planners &amp; Researchers</a:t>
            </a:r>
            <a:endParaRPr lang="en-US" sz="165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1412" y="5996940"/>
            <a:ext cx="3484483" cy="1038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Provides a powerful analytical tool for understanding complex market dynamics and the intricate relationship between climatic factors, demand, and price.</a:t>
            </a:r>
            <a:endParaRPr lang="en-US" sz="125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354705"/>
            <a:ext cx="8844320" cy="570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altLang="en-US" sz="320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Conclusion: A Functional Predictive Model with Development Potential</a:t>
            </a:r>
            <a:endParaRPr lang="en-US" altLang="en-US" sz="320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758309" y="4574619"/>
            <a:ext cx="4226838" cy="3008352"/>
          </a:xfrm>
          <a:prstGeom prst="roundRect">
            <a:avLst>
              <a:gd name="adj" fmla="val 4863"/>
            </a:avLst>
          </a:prstGeom>
          <a:solidFill>
            <a:srgbClr val="FFFFFF"/>
          </a:solidFill>
        </p:spPr>
      </p:sp>
      <p:pic>
        <p:nvPicPr>
          <p:cNvPr id="5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8309" y="4544139"/>
            <a:ext cx="4226838" cy="121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46687" y="4249698"/>
            <a:ext cx="649962" cy="649962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7"/>
            </p:custDataLst>
          </p:nvPr>
        </p:nvSpPr>
        <p:spPr>
          <a:xfrm>
            <a:off x="2741712" y="4412218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1</a:t>
            </a:r>
            <a:endParaRPr lang="en-US" sz="2000" b="1" dirty="0">
              <a:solidFill>
                <a:srgbClr val="000000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8" name="Text 3"/>
          <p:cNvSpPr/>
          <p:nvPr>
            <p:custDataLst>
              <p:tags r:id="rId8"/>
            </p:custDataLst>
          </p:nvPr>
        </p:nvSpPr>
        <p:spPr>
          <a:xfrm>
            <a:off x="1005364" y="511623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Model Development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4"/>
          <p:cNvSpPr/>
          <p:nvPr>
            <p:custDataLst>
              <p:tags r:id="rId9"/>
            </p:custDataLst>
          </p:nvPr>
        </p:nvSpPr>
        <p:spPr>
          <a:xfrm>
            <a:off x="1005364" y="5602367"/>
            <a:ext cx="3732728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charset="0"/>
                <a:cs typeface="Sans Serif Collection" panose="020B0502040504020204" charset="0"/>
              </a:rPr>
              <a:t>A functional prediction model was successfully developed using  XGBoost (R²=0.45 on training, 0.15 on test data), demonstrating the feasibility of machine learning for electricity price forecasting.</a:t>
            </a:r>
            <a:endParaRPr lang="en-US" altLang="en-US" sz="1700" dirty="0">
              <a:solidFill>
                <a:schemeClr val="bg2">
                  <a:lumMod val="25000"/>
                </a:schemeClr>
              </a:solidFill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10" name="Shape 5"/>
          <p:cNvSpPr/>
          <p:nvPr>
            <p:custDataLst>
              <p:tags r:id="rId10"/>
            </p:custDataLst>
          </p:nvPr>
        </p:nvSpPr>
        <p:spPr>
          <a:xfrm>
            <a:off x="5201722" y="4574619"/>
            <a:ext cx="4226838" cy="3008352"/>
          </a:xfrm>
          <a:prstGeom prst="roundRect">
            <a:avLst>
              <a:gd name="adj" fmla="val 4863"/>
            </a:avLst>
          </a:prstGeom>
          <a:solidFill>
            <a:srgbClr val="FFFFFF"/>
          </a:solidFill>
        </p:spPr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01722" y="4544139"/>
            <a:ext cx="4226838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90100" y="4249698"/>
            <a:ext cx="649962" cy="649962"/>
          </a:xfrm>
          <a:prstGeom prst="rect">
            <a:avLst/>
          </a:prstGeom>
        </p:spPr>
      </p:pic>
      <p:sp>
        <p:nvSpPr>
          <p:cNvPr id="13" name="Text 6"/>
          <p:cNvSpPr/>
          <p:nvPr>
            <p:custDataLst>
              <p:tags r:id="rId13"/>
            </p:custDataLst>
          </p:nvPr>
        </p:nvSpPr>
        <p:spPr>
          <a:xfrm>
            <a:off x="7185124" y="4412218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2</a:t>
            </a:r>
            <a:endParaRPr lang="en-US" sz="2000" b="1" dirty="0">
              <a:solidFill>
                <a:srgbClr val="000000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7"/>
          <p:cNvSpPr/>
          <p:nvPr>
            <p:custDataLst>
              <p:tags r:id="rId14"/>
            </p:custDataLst>
          </p:nvPr>
        </p:nvSpPr>
        <p:spPr>
          <a:xfrm>
            <a:off x="5448776" y="511623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Data Processing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5" name="Text 8"/>
          <p:cNvSpPr/>
          <p:nvPr>
            <p:custDataLst>
              <p:tags r:id="rId15"/>
            </p:custDataLst>
          </p:nvPr>
        </p:nvSpPr>
        <p:spPr>
          <a:xfrm>
            <a:off x="5448776" y="5602367"/>
            <a:ext cx="3732728" cy="173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Comprehensive data processing and meticulous feature engineering were critical to the model's performance and accuracy.</a:t>
            </a:r>
            <a:endParaRPr lang="en-US" sz="1700" dirty="0">
              <a:solidFill>
                <a:schemeClr val="bg2">
                  <a:lumMod val="25000"/>
                </a:schemeClr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6" name="Shape 9"/>
          <p:cNvSpPr/>
          <p:nvPr>
            <p:custDataLst>
              <p:tags r:id="rId16"/>
            </p:custDataLst>
          </p:nvPr>
        </p:nvSpPr>
        <p:spPr>
          <a:xfrm>
            <a:off x="9645134" y="4574619"/>
            <a:ext cx="4226957" cy="3008352"/>
          </a:xfrm>
          <a:prstGeom prst="roundRect">
            <a:avLst>
              <a:gd name="adj" fmla="val 4863"/>
            </a:avLst>
          </a:prstGeom>
          <a:solidFill>
            <a:srgbClr val="FFFFFF"/>
          </a:solidFill>
        </p:spPr>
      </p:sp>
      <p:pic>
        <p:nvPicPr>
          <p:cNvPr id="17" name="Image 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45134" y="4544139"/>
            <a:ext cx="4226957" cy="12192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33631" y="4249698"/>
            <a:ext cx="649962" cy="649962"/>
          </a:xfrm>
          <a:prstGeom prst="rect">
            <a:avLst/>
          </a:prstGeom>
        </p:spPr>
      </p:pic>
      <p:sp>
        <p:nvSpPr>
          <p:cNvPr id="19" name="Text 10"/>
          <p:cNvSpPr/>
          <p:nvPr>
            <p:custDataLst>
              <p:tags r:id="rId19"/>
            </p:custDataLst>
          </p:nvPr>
        </p:nvSpPr>
        <p:spPr>
          <a:xfrm>
            <a:off x="11628656" y="4412218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3</a:t>
            </a:r>
            <a:endParaRPr lang="en-US" sz="2000" b="1" dirty="0">
              <a:solidFill>
                <a:srgbClr val="000000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20" name="Text 11"/>
          <p:cNvSpPr/>
          <p:nvPr>
            <p:custDataLst>
              <p:tags r:id="rId20"/>
            </p:custDataLst>
          </p:nvPr>
        </p:nvSpPr>
        <p:spPr>
          <a:xfrm>
            <a:off x="9892189" y="5116235"/>
            <a:ext cx="3033951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Results &amp; Interpretation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21" name="Text 12"/>
          <p:cNvSpPr/>
          <p:nvPr>
            <p:custDataLst>
              <p:tags r:id="rId21"/>
            </p:custDataLst>
          </p:nvPr>
        </p:nvSpPr>
        <p:spPr>
          <a:xfrm>
            <a:off x="9892189" y="5602367"/>
            <a:ext cx="3732848" cy="138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17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The model provided interpretable results with moderate predictive accuracy (RMSE: 19.90 $/MWh), revealing that demand-related features are the primary drivers of electricity prices</a:t>
            </a:r>
            <a:r>
              <a:rPr lang="en-US" alt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.</a:t>
            </a:r>
            <a:endParaRPr lang="en-US" alt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1980"/>
            <a:ext cx="9580483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⚠ </a:t>
            </a:r>
            <a:r>
              <a:rPr lang="en-US" sz="35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Current Limitations &amp; Future Considerations</a:t>
            </a:r>
            <a:endParaRPr lang="en-US" sz="35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1635800"/>
            <a:ext cx="2185511" cy="1612702"/>
          </a:xfrm>
          <a:prstGeom prst="roundRect">
            <a:avLst>
              <a:gd name="adj" fmla="val 2015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8665" y="2289691"/>
            <a:ext cx="304681" cy="304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60395" y="185237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Model Complexity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60395" y="2338507"/>
            <a:ext cx="10495121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Linear models may not fully capture highly complex non-linear relationships, and feature interactions are limited by default.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052048" y="3233261"/>
            <a:ext cx="10711815" cy="15240"/>
          </a:xfrm>
          <a:prstGeom prst="roundRect">
            <a:avLst>
              <a:gd name="adj" fmla="val 2132502"/>
            </a:avLst>
          </a:prstGeom>
          <a:solidFill>
            <a:srgbClr val="BACFDD"/>
          </a:solidFill>
        </p:spPr>
      </p:sp>
      <p:sp>
        <p:nvSpPr>
          <p:cNvPr id="8" name="Shape 5"/>
          <p:cNvSpPr/>
          <p:nvPr/>
        </p:nvSpPr>
        <p:spPr>
          <a:xfrm>
            <a:off x="758309" y="3356729"/>
            <a:ext cx="4371142" cy="1612702"/>
          </a:xfrm>
          <a:prstGeom prst="roundRect">
            <a:avLst>
              <a:gd name="adj" fmla="val 2015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1539" y="4010620"/>
            <a:ext cx="304681" cy="3046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6025" y="357330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Data Assumptions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46025" y="4059436"/>
            <a:ext cx="8309491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Assumes stationarity in price relationships. The current statistical outlier removal removes peaks that might be genuine forecasted spikes.</a:t>
            </a:r>
            <a:endParaRPr lang="en-US" alt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alt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237678" y="4954191"/>
            <a:ext cx="8526185" cy="15240"/>
          </a:xfrm>
          <a:prstGeom prst="roundRect">
            <a:avLst>
              <a:gd name="adj" fmla="val 2132502"/>
            </a:avLst>
          </a:prstGeom>
          <a:solidFill>
            <a:srgbClr val="BACFDD"/>
          </a:solidFill>
        </p:spPr>
      </p:sp>
      <p:sp>
        <p:nvSpPr>
          <p:cNvPr id="13" name="Shape 9"/>
          <p:cNvSpPr/>
          <p:nvPr/>
        </p:nvSpPr>
        <p:spPr>
          <a:xfrm>
            <a:off x="758309" y="5077658"/>
            <a:ext cx="6556891" cy="1959412"/>
          </a:xfrm>
          <a:prstGeom prst="roundRect">
            <a:avLst>
              <a:gd name="adj" fmla="val 1658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4414" y="5904905"/>
            <a:ext cx="304681" cy="3046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31775" y="529423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Production Readiness</a:t>
            </a:r>
            <a:endParaRPr lang="en-US" sz="2200" b="1" dirty="0">
              <a:solidFill>
                <a:srgbClr val="384653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31775" y="5780365"/>
            <a:ext cx="612374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Currently lacks model versioning, advanced error handling, and a user-friendly API or web interface for deployment.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58309" y="7280791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Addressing these limitations will be key for deploying the model in a real-world production environment.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8532"/>
            <a:ext cx="6998494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📚</a:t>
            </a:r>
            <a:r>
              <a:rPr lang="en-US" sz="35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  References &amp; Project Structure</a:t>
            </a:r>
            <a:endParaRPr lang="en-US" sz="355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730579"/>
            <a:ext cx="4688800" cy="427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Key Libraries &amp; Documentation</a:t>
            </a:r>
            <a:endParaRPr lang="en-US" sz="265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374708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u="sng" dirty="0">
                <a:solidFill>
                  <a:srgbClr val="359DDF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scikit-learn Documentation</a:t>
            </a:r>
            <a:endParaRPr lang="en-US" sz="1700" u="sng" dirty="0">
              <a:solidFill>
                <a:srgbClr val="359DDF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3797141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u="sng" dirty="0">
                <a:solidFill>
                  <a:srgbClr val="359DDF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Pandas Documentation</a:t>
            </a:r>
            <a:endParaRPr lang="en-US" sz="1700" u="sng" dirty="0">
              <a:solidFill>
                <a:srgbClr val="359DDF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4219575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u="sng" dirty="0">
                <a:solidFill>
                  <a:srgbClr val="359DDF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XGBoost Documentation</a:t>
            </a:r>
            <a:endParaRPr lang="en-US" sz="1700" u="sng" dirty="0">
              <a:solidFill>
                <a:srgbClr val="359DDF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4642009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u="sng" dirty="0">
                <a:solidFill>
                  <a:srgbClr val="359DDF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Matplotlib Documentation</a:t>
            </a:r>
            <a:endParaRPr lang="en-US" sz="1700" u="sng" dirty="0">
              <a:solidFill>
                <a:srgbClr val="359DDF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309" y="5064443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u="sng" dirty="0">
                <a:solidFill>
                  <a:srgbClr val="359DDF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Seaborn Documentation</a:t>
            </a:r>
            <a:endParaRPr lang="en-US" sz="1700" u="sng" dirty="0">
              <a:solidFill>
                <a:srgbClr val="359DDF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7139" y="2730579"/>
            <a:ext cx="3420904" cy="427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Project Structure</a:t>
            </a:r>
            <a:endParaRPr lang="en-US" sz="265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87139" y="3401854"/>
            <a:ext cx="6292572" cy="2405063"/>
          </a:xfrm>
          <a:prstGeom prst="roundRect">
            <a:avLst>
              <a:gd name="adj" fmla="val 13513"/>
            </a:avLst>
          </a:prstGeom>
          <a:solidFill>
            <a:srgbClr val="F2F2F2"/>
          </a:solidFill>
        </p:spPr>
      </p:sp>
      <p:sp>
        <p:nvSpPr>
          <p:cNvPr id="11" name="Shape 9"/>
          <p:cNvSpPr/>
          <p:nvPr/>
        </p:nvSpPr>
        <p:spPr>
          <a:xfrm>
            <a:off x="7576423" y="3401854"/>
            <a:ext cx="6314003" cy="2405063"/>
          </a:xfrm>
          <a:prstGeom prst="roundRect">
            <a:avLst>
              <a:gd name="adj" fmla="val 1351"/>
            </a:avLst>
          </a:prstGeom>
          <a:solidFill>
            <a:srgbClr val="F2F2F2"/>
          </a:solidFill>
        </p:spPr>
      </p:sp>
      <p:sp>
        <p:nvSpPr>
          <p:cNvPr id="12" name="Text 10"/>
          <p:cNvSpPr/>
          <p:nvPr/>
        </p:nvSpPr>
        <p:spPr>
          <a:xfrm>
            <a:off x="7792720" y="3564255"/>
            <a:ext cx="5880735" cy="22428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Consolas" panose="020B0609020204030204" pitchFamily="34" charset="-122"/>
                <a:cs typeface="Sans Serif Collection" panose="020B0502040504020204" charset="0"/>
              </a:rPr>
              <a:t>├── 2018_CI_Assignment_Training_Data.csv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Consolas" panose="020B0609020204030204" pitchFamily="34" charset="-122"/>
                <a:cs typeface="Sans Serif Collection" panose="020B0502040504020204" charset="0"/>
              </a:rPr>
              <a:t>├── 2018_CI_Assignment_Testing_Data.csv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Consolas" panose="020B0609020204030204" pitchFamily="34" charset="-122"/>
                <a:cs typeface="Sans Serif Collection" panose="020B0502040504020204" charset="0"/>
              </a:rPr>
              <a:t>├── electricity_price_prediction.ipynb</a:t>
            </a:r>
            <a:endParaRPr lang="en-US" sz="1600" dirty="0">
              <a:latin typeface="Sans Serif Collection" panose="020B0502040504020204" charset="0"/>
              <a:cs typeface="Sans Serif Collection" panose="020B0502040504020204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Consolas" panose="020B0609020204030204" pitchFamily="34" charset="-122"/>
                <a:cs typeface="Sans Serif Collection" panose="020B0502040504020204" charset="0"/>
              </a:rPr>
              <a:t>└── README.md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Consolas" panose="020B0609020204030204" pitchFamily="34" charset="-122"/>
              <a:cs typeface="Sans Serif Collection" panose="020B0502040504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309" y="6294358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This project is licensed under the MIT License, encouraging open collaboration and further development.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758309" y="1889998"/>
            <a:ext cx="5892879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Questions &amp; Discussion</a:t>
            </a:r>
            <a:endParaRPr lang="en-US" sz="445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2689265"/>
            <a:ext cx="4352330" cy="427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Sans Serif Collection" panose="020B0502040504020204" charset="0"/>
                <a:ea typeface="Barlow Bold" pitchFamily="34" charset="-122"/>
                <a:cs typeface="Sans Serif Collection" panose="020B0502040504020204" charset="0"/>
              </a:rPr>
              <a:t>Thank you for your attention.</a:t>
            </a:r>
            <a:endParaRPr lang="en-US" sz="2650" b="1" dirty="0">
              <a:solidFill>
                <a:srgbClr val="2E3C4E"/>
              </a:solidFill>
              <a:latin typeface="Sans Serif Collection" panose="020B0502040504020204" charset="0"/>
              <a:ea typeface="Barlow Bold" pitchFamily="34" charset="-122"/>
              <a:cs typeface="Sans Serif Collection" panose="020B0502040504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8309" y="3441740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We are now ready to answer any questions regarding:</a:t>
            </a:r>
            <a:endParaRPr lang="en-US" sz="1700" dirty="0">
              <a:solidFill>
                <a:srgbClr val="384653"/>
              </a:solidFill>
              <a:latin typeface="Sans Serif Collection" panose="020B0502040504020204" charset="0"/>
              <a:ea typeface="Montserrat" pitchFamily="34" charset="-122"/>
              <a:cs typeface="Sans Serif Collection" panose="020B0502040504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8309" y="4032171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Methodology:</a:t>
            </a: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 The model building process and evaluation metrics.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8190" y="4454525"/>
            <a:ext cx="7627620" cy="420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Technical Details:</a:t>
            </a: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 Feature engineering and preprocessing techniques.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8309" y="4858623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Practical Application:</a:t>
            </a: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 Future development and operationalisation of the project.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8309" y="5627767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General Inquiries:</a:t>
            </a:r>
            <a:r>
              <a:rPr lang="en-US" sz="1700" dirty="0">
                <a:solidFill>
                  <a:srgbClr val="384653"/>
                </a:solidFill>
                <a:latin typeface="Sans Serif Collection" panose="020B0502040504020204" charset="0"/>
                <a:ea typeface="Montserrat" pitchFamily="34" charset="-122"/>
                <a:cs typeface="Sans Serif Collection" panose="020B0502040504020204" charset="0"/>
              </a:rPr>
              <a:t> Any other aspects you wish to discuss.</a:t>
            </a:r>
            <a:endParaRPr lang="en-US" sz="1700" dirty="0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753600" y="7724775"/>
            <a:ext cx="4876800" cy="504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2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3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4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5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6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7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8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9.xml><?xml version="1.0" encoding="utf-8"?>
<p:tagLst xmlns:p="http://schemas.openxmlformats.org/presentationml/2006/main">
  <p:tag name="KSO_WM_DIAGRAM_VIRTUALLY_FRAME" val="{&quot;height&quot;:245.2,&quot;left&quot;:59.7,&quot;top&quot;:222.65,&quot;width&quot;:1032.5906299212597}"/>
</p:tagLst>
</file>

<file path=ppt/tags/tag10.xml><?xml version="1.0" encoding="utf-8"?>
<p:tagLst xmlns:p="http://schemas.openxmlformats.org/presentationml/2006/main">
  <p:tag name="KSO_WM_DIAGRAM_VIRTUALLY_FRAME" val="{&quot;height&quot;:170.5,&quot;left&quot;:59.7,&quot;top&quot;:297.35,&quot;width&quot;:1032.5906299212597}"/>
</p:tagLst>
</file>

<file path=ppt/tags/tag11.xml><?xml version="1.0" encoding="utf-8"?>
<p:tagLst xmlns:p="http://schemas.openxmlformats.org/presentationml/2006/main">
  <p:tag name="KSO_WM_DIAGRAM_VIRTUALLY_FRAME" val="{&quot;height&quot;:170.5,&quot;left&quot;:59.7,&quot;top&quot;:297.35,&quot;width&quot;:1032.5906299212597}"/>
</p:tagLst>
</file>

<file path=ppt/tags/tag12.xml><?xml version="1.0" encoding="utf-8"?>
<p:tagLst xmlns:p="http://schemas.openxmlformats.org/presentationml/2006/main">
  <p:tag name="KSO_WM_DIAGRAM_VIRTUALLY_FRAME" val="{&quot;height&quot;:170.5,&quot;left&quot;:59.7,&quot;top&quot;:297.35,&quot;width&quot;:1032.5906299212597}"/>
</p:tagLst>
</file>

<file path=ppt/tags/tag13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4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5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6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7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8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19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0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1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2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3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4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5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6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7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8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29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30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31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32.xml><?xml version="1.0" encoding="utf-8"?>
<p:tagLst xmlns:p="http://schemas.openxmlformats.org/presentationml/2006/main">
  <p:tag name="KSO_WM_DIAGRAM_VIRTUALLY_FRAME" val="{&quot;height&quot;:497.98125984251976,&quot;left&quot;:51.262519685039365,&quot;top&quot;:109.90314960629921,&quot;width&quot;:1049.4749606299213}"/>
</p:tagLst>
</file>

<file path=ppt/tags/tag33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4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5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6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7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8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39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0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1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2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3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4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5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6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7.xml><?xml version="1.0" encoding="utf-8"?>
<p:tagLst xmlns:p="http://schemas.openxmlformats.org/presentationml/2006/main">
  <p:tag name="KSO_WM_DIAGRAM_VIRTUALLY_FRAME" val="{&quot;height&quot;:212.7,&quot;left&quot;:58.24685039370079,&quot;top&quot;:383.95,&quot;width&quot;:1035.496929133858}"/>
</p:tagLst>
</file>

<file path=ppt/tags/tag48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49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0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1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2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3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4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5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6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7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8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59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0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1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2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3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4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ags/tag65.xml><?xml version="1.0" encoding="utf-8"?>
<p:tagLst xmlns:p="http://schemas.openxmlformats.org/presentationml/2006/main">
  <p:tag name="KSO_WM_DIAGRAM_VIRTUALLY_FRAME" val="{&quot;height&quot;:262.4624409448819,&quot;left&quot;:59.70937007874015,&quot;top&quot;:334.6218897637795,&quot;width&quot;:1032.58125984251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6981</Words>
  <Application>WPS Presentation</Application>
  <PresentationFormat>On-screen Show (16:9)</PresentationFormat>
  <Paragraphs>252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Sans Serif Collection</vt:lpstr>
      <vt:lpstr>Barlow Bold</vt:lpstr>
      <vt:lpstr>Montserrat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Khayreddine</cp:lastModifiedBy>
  <cp:revision>7</cp:revision>
  <dcterms:created xsi:type="dcterms:W3CDTF">2025-12-29T11:15:00Z</dcterms:created>
  <dcterms:modified xsi:type="dcterms:W3CDTF">2025-12-30T17:04:57Z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CFD955B39B1940B0B3CB9C8D440F4AB6_13</vt:lpwstr>
  </property>
  <property fmtid="{D5CDD505-2E9C-101B-9397-08002B2CF9AE}" pid="3" name="KSOProductBuildVer">
    <vt:lpwstr>1033-12.2.0.23196</vt:lpwstr>
  </property>
</Properties>
</file>